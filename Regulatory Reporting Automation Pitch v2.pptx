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-731520"/>
            <a:ext cx="2011680" cy="2011680"/>
          </a:xfrm>
          <a:prstGeom prst="ellipse">
            <a:avLst/>
          </a:prstGeom>
          <a:solidFill>
            <a:srgbClr val="C9A84C">
              <a:alpha val="15000"/>
            </a:srgbClr>
          </a:solidFill>
          <a:ln w="12700">
            <a:solidFill>
              <a:srgbClr val="C9A84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0" y="-365760"/>
            <a:ext cx="1280160" cy="1280160"/>
          </a:xfrm>
          <a:prstGeom prst="ellipse">
            <a:avLst/>
          </a:prstGeom>
          <a:solidFill>
            <a:srgbClr val="C9A84C">
              <a:alpha val="25000"/>
            </a:srgbClr>
          </a:solidFill>
          <a:ln w="12700">
            <a:solidFill>
              <a:srgbClr val="C9A84C">
                <a:alpha val="5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0584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ISLAMIC FINANCE  ·  REGULATORY TRANSFORMATION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371600"/>
            <a:ext cx="6400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Manual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Returns to a</a:t>
            </a:r>
            <a:endParaRPr lang="en-US" sz="42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Fabric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320040" y="3566160"/>
            <a:ext cx="109728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370332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Execution-First Approach to Regulatory Reporting Automation for Middle Eastern Banks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0040" y="47548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200" kern="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·  2025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Regulatory Automation Usually Fails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isn't technology — it's data fragmentation and organisational fragmentation happening simultaneously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70432"/>
            <a:ext cx="4206240" cy="374904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70432"/>
            <a:ext cx="4206240" cy="54864"/>
          </a:xfrm>
          <a:prstGeom prst="rect">
            <a:avLst/>
          </a:prstGeom>
          <a:solidFill>
            <a:srgbClr val="DC4A3D"/>
          </a:solidFill>
          <a:ln w="12700">
            <a:solidFill>
              <a:srgbClr val="DC4A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25880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1832" y="131673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Fragmentation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38912" y="184708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SAMA liquidity return draws from Treasury, Risk, Finance, and Operations — no team owns all inputs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field is calculated differently by Finance and Risk, causing reconciliation loops every month-end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systems have no shared data model — every extract is bespoke and manually reconciled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Month-end snapshots mean intra-month variances go undetected until it is too late to investigate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90872" y="1170432"/>
            <a:ext cx="4206240" cy="374904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90872" y="1170432"/>
            <a:ext cx="420624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3752" y="1325880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76672" y="1316736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Organisational Fragmentation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873752" y="1847088"/>
            <a:ext cx="38404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cannot automate a report that Risk has not validated — but Risk operates on its own sign-off calendar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stakeholder has a different tolerance for automation risk; a CFO will not file without human review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reporting sits in a silo — cross-functional data ownership is rarely formally defined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projects needing four departments to agree rarely survive the governance process intact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Reframe: Don't Automate Reports — Automate the Data Supply Chain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Regulatory Data Fabric: a governed, always-on layer that assembles, validates, and certifies inputs before any report is run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8641080" cy="914400"/>
          </a:xfrm>
          <a:prstGeom prst="rect">
            <a:avLst/>
          </a:prstGeom>
          <a:solidFill>
            <a:srgbClr val="1A2F45"/>
          </a:solidFill>
          <a:ln w="19050">
            <a:solidFill>
              <a:srgbClr val="C9A84C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216152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E8C96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Instead of asking every stakeholder to review every report, each team certifies their data domain once — the AI assembles all reports from pre-certified inputs.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" y="2212848"/>
            <a:ext cx="4206240" cy="274320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56032" y="2212848"/>
            <a:ext cx="4206240" cy="54864"/>
          </a:xfrm>
          <a:prstGeom prst="rect">
            <a:avLst/>
          </a:prstGeom>
          <a:solidFill>
            <a:srgbClr val="DC4A3D"/>
          </a:solidFill>
          <a:ln w="12700">
            <a:solidFill>
              <a:srgbClr val="DC4A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313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DC4A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 — STATUS QUO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0624" y="2706624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report triggers a fresh data collection cycle across teams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 teams independently validate overlapping numbers each month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Sign-off is per-report — the same effort repeated every cycle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found late, after numbers have already circulated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institutional memory of why a number moved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90872" y="2212848"/>
            <a:ext cx="4206240" cy="274320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90872" y="2212848"/>
            <a:ext cx="420624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55464" y="23134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100" kern="0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DATA FABRIC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855464" y="2706624"/>
            <a:ext cx="384048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domains certified continuously — not triggered by reports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owns and signs off on their domain only, once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assembled automatically from pre-certified inputs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flags anomalies before they reach any report</a:t>
            </a:r>
            <a:endParaRPr lang="en-US" sz="100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lineage: every number traceable to its source transaction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Advisory Approach: The Data Ownership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foundational artefact that makes the programme governable — built with your teams in a structured 2-day workshop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411480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41148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1243584"/>
            <a:ext cx="3337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the Data Ownership Matrix?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1737360"/>
            <a:ext cx="3794760" cy="3063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mapping of every regulatory report to its constituent data elements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element: the owning domain, named steward, source system, and certification SLA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governance contract between Finance, Risk, Treasury, and Operations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reference that the AI uses to know where to pull each data point from</a:t>
            </a:r>
            <a:endParaRPr lang="en-US" sz="105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0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living document — updated when standards change or systems evolve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17720" y="1115568"/>
            <a:ext cx="4279392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617720" y="1115568"/>
            <a:ext cx="4279392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261872"/>
            <a:ext cx="347472" cy="3474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230368" y="1243584"/>
            <a:ext cx="3520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Build It — The Workshop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754880" y="1737360"/>
            <a:ext cx="685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754880" y="17373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750" dirty="0"/>
          </a:p>
        </p:txBody>
      </p:sp>
      <p:sp>
        <p:nvSpPr>
          <p:cNvPr id="16" name="Text 12"/>
          <p:cNvSpPr/>
          <p:nvPr/>
        </p:nvSpPr>
        <p:spPr>
          <a:xfrm>
            <a:off x="5532120" y="1700784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Pre-work: each domain lead maps the data elements they believe they own across all in-scope reports. Conflicts and gaps captured upfront.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4754880" y="2395728"/>
            <a:ext cx="685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754880" y="239572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750" dirty="0"/>
          </a:p>
        </p:txBody>
      </p:sp>
      <p:sp>
        <p:nvSpPr>
          <p:cNvPr id="19" name="Text 15"/>
          <p:cNvSpPr/>
          <p:nvPr/>
        </p:nvSpPr>
        <p:spPr>
          <a:xfrm>
            <a:off x="5532120" y="2359152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morning: report decomposition — we walk every report line by line and assign ownership. Contested fields are flagged for resolution.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754880" y="3054096"/>
            <a:ext cx="685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754880" y="305409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</a:t>
            </a:r>
            <a:endParaRPr lang="en-US" sz="750" dirty="0"/>
          </a:p>
        </p:txBody>
      </p:sp>
      <p:sp>
        <p:nvSpPr>
          <p:cNvPr id="22" name="Text 18"/>
          <p:cNvSpPr/>
          <p:nvPr/>
        </p:nvSpPr>
        <p:spPr>
          <a:xfrm>
            <a:off x="5532120" y="3017520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afternoon: reconcile overlaps. Where two teams both claim an element, we define the single source of truth and the derivation rule.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4754880" y="3712464"/>
            <a:ext cx="685800" cy="2743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754880" y="37124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750" dirty="0"/>
          </a:p>
        </p:txBody>
      </p:sp>
      <p:sp>
        <p:nvSpPr>
          <p:cNvPr id="25" name="Text 21"/>
          <p:cNvSpPr/>
          <p:nvPr/>
        </p:nvSpPr>
        <p:spPr>
          <a:xfrm>
            <a:off x="5532120" y="3675888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 certification SLAs per domain. Define what 'certified' means operationally. Draft the Regulatory Data Council terms of reference.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4754880" y="4370832"/>
            <a:ext cx="685800" cy="2743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754880" y="437083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750" dirty="0"/>
          </a:p>
        </p:txBody>
      </p:sp>
      <p:sp>
        <p:nvSpPr>
          <p:cNvPr id="28" name="Text 24"/>
          <p:cNvSpPr/>
          <p:nvPr/>
        </p:nvSpPr>
        <p:spPr>
          <a:xfrm>
            <a:off x="5532120" y="4334256"/>
            <a:ext cx="32004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 Ownership Matrix and Data Council charter delivered within 5 business days of the workshop.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Ownership Matrix — Illustrative Sample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representative extract showing how data elements are mapped across domains for a GCC Islamic bank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3291840" y="80467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0DC9A"/>
          </a:solidFill>
          <a:ln w="12700">
            <a:solidFill>
              <a:srgbClr val="F0DC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91840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773168" y="80467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FCDD2"/>
          </a:solidFill>
          <a:ln w="12700">
            <a:solidFill>
              <a:srgbClr val="FFCDD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73168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254496" y="80467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B2DFDB"/>
          </a:solidFill>
          <a:ln w="12700">
            <a:solidFill>
              <a:srgbClr val="B2DF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54496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735824" y="804672"/>
            <a:ext cx="1371600" cy="237744"/>
          </a:xfrm>
          <a:prstGeom prst="roundRect">
            <a:avLst>
              <a:gd name="adj" fmla="val 19231"/>
            </a:avLst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35824" y="8046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0" y="804672"/>
            <a:ext cx="713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DOMAINS: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1168" y="1115568"/>
            <a:ext cx="1691640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37744" y="1115568"/>
            <a:ext cx="16184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Element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1892808" y="1115568"/>
            <a:ext cx="749808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29384" y="1115568"/>
            <a:ext cx="67665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642616" y="1115568"/>
            <a:ext cx="2011680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79192" y="1115568"/>
            <a:ext cx="1938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Automation Action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54296" y="1115568"/>
            <a:ext cx="1024128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90872" y="1115568"/>
            <a:ext cx="9509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678424" y="1115568"/>
            <a:ext cx="1389888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15000" y="1115568"/>
            <a:ext cx="13167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Steward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7068312" y="1115568"/>
            <a:ext cx="914400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104888" y="1115568"/>
            <a:ext cx="8412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Frequency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82712" y="1115568"/>
            <a:ext cx="1097280" cy="347472"/>
          </a:xfrm>
          <a:prstGeom prst="rect">
            <a:avLst/>
          </a:prstGeom>
          <a:solidFill>
            <a:srgbClr val="243B55"/>
          </a:solidFill>
          <a:ln w="635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19288" y="1115568"/>
            <a:ext cx="10241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Cert. Status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1168" y="1463040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7744" y="1463040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CET1 Capital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1892808" y="1463040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929384" y="1463040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2642616" y="1463040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679192" y="1463040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from GL; alert if below regulatory minimum</a:t>
            </a:r>
            <a:endParaRPr lang="en-US" sz="780" dirty="0"/>
          </a:p>
        </p:txBody>
      </p:sp>
      <p:sp>
        <p:nvSpPr>
          <p:cNvPr id="34" name="Shape 32"/>
          <p:cNvSpPr/>
          <p:nvPr/>
        </p:nvSpPr>
        <p:spPr>
          <a:xfrm>
            <a:off x="4654296" y="1463040"/>
            <a:ext cx="1024128" cy="288036"/>
          </a:xfrm>
          <a:prstGeom prst="rect">
            <a:avLst/>
          </a:prstGeom>
          <a:solidFill>
            <a:srgbClr val="F0DC9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90872" y="1463040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678424" y="1463040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715000" y="1463040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7068312" y="1463040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04888" y="1463040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982712" y="1463040"/>
            <a:ext cx="1097280" cy="288036"/>
          </a:xfrm>
          <a:prstGeom prst="rect">
            <a:avLst/>
          </a:prstGeom>
          <a:solidFill>
            <a:srgbClr val="C8E6C9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19288" y="1463040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201168" y="1751076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7744" y="1751076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Risk-Weighted Assets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892808" y="1751076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929384" y="1751076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2642616" y="1751076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679192" y="1751076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from risk engine; reconcile to Finance balance sheet</a:t>
            </a:r>
            <a:endParaRPr lang="en-US" sz="780" dirty="0"/>
          </a:p>
        </p:txBody>
      </p:sp>
      <p:sp>
        <p:nvSpPr>
          <p:cNvPr id="48" name="Shape 46"/>
          <p:cNvSpPr/>
          <p:nvPr/>
        </p:nvSpPr>
        <p:spPr>
          <a:xfrm>
            <a:off x="4654296" y="1751076"/>
            <a:ext cx="1024128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690872" y="1751076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678424" y="1751076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715000" y="1751076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Office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7068312" y="1751076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7104888" y="175107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982712" y="1751076"/>
            <a:ext cx="1097280" cy="288036"/>
          </a:xfrm>
          <a:prstGeom prst="rect">
            <a:avLst/>
          </a:prstGeom>
          <a:solidFill>
            <a:srgbClr val="FFE0B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19288" y="1751076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201168" y="2039112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37744" y="2039112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HQLA Level 1 Assets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1892808" y="2039112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929384" y="2039112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2642616" y="2039112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79192" y="2039112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treasury feed; ML anomaly detection on moves &gt;5%</a:t>
            </a:r>
            <a:endParaRPr lang="en-US" sz="780" dirty="0"/>
          </a:p>
        </p:txBody>
      </p:sp>
      <p:sp>
        <p:nvSpPr>
          <p:cNvPr id="62" name="Shape 60"/>
          <p:cNvSpPr/>
          <p:nvPr/>
        </p:nvSpPr>
        <p:spPr>
          <a:xfrm>
            <a:off x="4654296" y="2039112"/>
            <a:ext cx="1024128" cy="288036"/>
          </a:xfrm>
          <a:prstGeom prst="rect">
            <a:avLst/>
          </a:prstGeom>
          <a:solidFill>
            <a:srgbClr val="B2DFDB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690872" y="2039112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5678424" y="2039112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715000" y="2039112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Treasury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7068312" y="2039112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7104888" y="2039112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7982712" y="2039112"/>
            <a:ext cx="1097280" cy="288036"/>
          </a:xfrm>
          <a:prstGeom prst="rect">
            <a:avLst/>
          </a:prstGeom>
          <a:solidFill>
            <a:srgbClr val="C8E6C9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019288" y="2039112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201168" y="2327148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37744" y="2327148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HQLA Level 2A / 2B Assets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1892808" y="2327148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929384" y="2327148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2642616" y="2327148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2679192" y="2327148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Auto-classify assets; apply regulatory haircuts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4654296" y="2327148"/>
            <a:ext cx="1024128" cy="288036"/>
          </a:xfrm>
          <a:prstGeom prst="rect">
            <a:avLst/>
          </a:prstGeom>
          <a:solidFill>
            <a:srgbClr val="B2DFDB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690872" y="2327148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78" name="Shape 76"/>
          <p:cNvSpPr/>
          <p:nvPr/>
        </p:nvSpPr>
        <p:spPr>
          <a:xfrm>
            <a:off x="5678424" y="2327148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5715000" y="2327148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Treasury</a:t>
            </a:r>
            <a:endParaRPr lang="en-US" sz="850" dirty="0"/>
          </a:p>
        </p:txBody>
      </p:sp>
      <p:sp>
        <p:nvSpPr>
          <p:cNvPr id="80" name="Shape 78"/>
          <p:cNvSpPr/>
          <p:nvPr/>
        </p:nvSpPr>
        <p:spPr>
          <a:xfrm>
            <a:off x="7068312" y="2327148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7104888" y="2327148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982712" y="2327148"/>
            <a:ext cx="1097280" cy="288036"/>
          </a:xfrm>
          <a:prstGeom prst="rect">
            <a:avLst/>
          </a:prstGeom>
          <a:solidFill>
            <a:srgbClr val="C8E6C9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019288" y="2327148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</a:t>
            </a:r>
            <a:endParaRPr lang="en-US" sz="850" dirty="0"/>
          </a:p>
        </p:txBody>
      </p:sp>
      <p:sp>
        <p:nvSpPr>
          <p:cNvPr id="84" name="Shape 82"/>
          <p:cNvSpPr/>
          <p:nvPr/>
        </p:nvSpPr>
        <p:spPr>
          <a:xfrm>
            <a:off x="201168" y="2615184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37744" y="2615184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Cash Outflows (30-day)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892808" y="2615184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929384" y="2615184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CBUAE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2642616" y="2615184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2679192" y="2615184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 cashflow model; apply regulatory outflow rates</a:t>
            </a:r>
            <a:endParaRPr lang="en-US" sz="780" dirty="0"/>
          </a:p>
        </p:txBody>
      </p:sp>
      <p:sp>
        <p:nvSpPr>
          <p:cNvPr id="90" name="Shape 88"/>
          <p:cNvSpPr/>
          <p:nvPr/>
        </p:nvSpPr>
        <p:spPr>
          <a:xfrm>
            <a:off x="4654296" y="2615184"/>
            <a:ext cx="1024128" cy="288036"/>
          </a:xfrm>
          <a:prstGeom prst="rect">
            <a:avLst/>
          </a:prstGeom>
          <a:solidFill>
            <a:srgbClr val="B2DFDB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90872" y="2615184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5678424" y="2615184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715000" y="2615184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Treasury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7068312" y="2615184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7104888" y="2615184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7982712" y="2615184"/>
            <a:ext cx="1097280" cy="288036"/>
          </a:xfrm>
          <a:prstGeom prst="rect">
            <a:avLst/>
          </a:prstGeom>
          <a:solidFill>
            <a:srgbClr val="FFE0B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8019288" y="2615184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Review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201168" y="2903220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37744" y="2903220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Deposit Outflow Rate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1892808" y="2903220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929384" y="2903220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CBUAE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2642616" y="2903220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2679192" y="2903220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Auto-segment deposits; apply run-off factors by tier</a:t>
            </a:r>
            <a:endParaRPr lang="en-US" sz="780" dirty="0"/>
          </a:p>
        </p:txBody>
      </p:sp>
      <p:sp>
        <p:nvSpPr>
          <p:cNvPr id="104" name="Shape 102"/>
          <p:cNvSpPr/>
          <p:nvPr/>
        </p:nvSpPr>
        <p:spPr>
          <a:xfrm>
            <a:off x="4654296" y="2903220"/>
            <a:ext cx="1024128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690872" y="2903220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5678424" y="2903220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715000" y="2903220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Office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7068312" y="2903220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104888" y="2903220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7982712" y="2903220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8019288" y="2903220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201168" y="3191256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37744" y="3191256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Counterparty Exposure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1892808" y="3191256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1929384" y="3191256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2642616" y="3191256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2679192" y="3191256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Auto-aggregate by group; flag if &gt;25% of capital base</a:t>
            </a:r>
            <a:endParaRPr lang="en-US" sz="780" dirty="0"/>
          </a:p>
        </p:txBody>
      </p:sp>
      <p:sp>
        <p:nvSpPr>
          <p:cNvPr id="118" name="Shape 116"/>
          <p:cNvSpPr/>
          <p:nvPr/>
        </p:nvSpPr>
        <p:spPr>
          <a:xfrm>
            <a:off x="4654296" y="3191256"/>
            <a:ext cx="1024128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4690872" y="3191256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5678424" y="3191256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5715000" y="3191256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Office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7068312" y="3191256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7104888" y="319125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24" name="Shape 122"/>
          <p:cNvSpPr/>
          <p:nvPr/>
        </p:nvSpPr>
        <p:spPr>
          <a:xfrm>
            <a:off x="7982712" y="3191256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8019288" y="3191256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26" name="Shape 124"/>
          <p:cNvSpPr/>
          <p:nvPr/>
        </p:nvSpPr>
        <p:spPr>
          <a:xfrm>
            <a:off x="201168" y="3479292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37744" y="3479292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Parties</a:t>
            </a:r>
            <a:endParaRPr lang="en-US" sz="850" dirty="0"/>
          </a:p>
        </p:txBody>
      </p:sp>
      <p:sp>
        <p:nvSpPr>
          <p:cNvPr id="128" name="Shape 126"/>
          <p:cNvSpPr/>
          <p:nvPr/>
        </p:nvSpPr>
        <p:spPr>
          <a:xfrm>
            <a:off x="1892808" y="3479292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929384" y="3479292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130" name="Shape 128"/>
          <p:cNvSpPr/>
          <p:nvPr/>
        </p:nvSpPr>
        <p:spPr>
          <a:xfrm>
            <a:off x="2642616" y="3479292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2679192" y="3479292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 ML to surface undisclosed connections</a:t>
            </a:r>
            <a:endParaRPr lang="en-US" sz="780" dirty="0"/>
          </a:p>
        </p:txBody>
      </p:sp>
      <p:sp>
        <p:nvSpPr>
          <p:cNvPr id="132" name="Shape 130"/>
          <p:cNvSpPr/>
          <p:nvPr/>
        </p:nvSpPr>
        <p:spPr>
          <a:xfrm>
            <a:off x="4654296" y="3479292"/>
            <a:ext cx="1024128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4690872" y="3479292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50" dirty="0"/>
          </a:p>
        </p:txBody>
      </p:sp>
      <p:sp>
        <p:nvSpPr>
          <p:cNvPr id="134" name="Shape 132"/>
          <p:cNvSpPr/>
          <p:nvPr/>
        </p:nvSpPr>
        <p:spPr>
          <a:xfrm>
            <a:off x="5678424" y="3479292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5715000" y="3479292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Office</a:t>
            </a:r>
            <a:endParaRPr lang="en-US" sz="850" dirty="0"/>
          </a:p>
        </p:txBody>
      </p:sp>
      <p:sp>
        <p:nvSpPr>
          <p:cNvPr id="136" name="Shape 134"/>
          <p:cNvSpPr/>
          <p:nvPr/>
        </p:nvSpPr>
        <p:spPr>
          <a:xfrm>
            <a:off x="7068312" y="3479292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104888" y="3479292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138" name="Shape 136"/>
          <p:cNvSpPr/>
          <p:nvPr/>
        </p:nvSpPr>
        <p:spPr>
          <a:xfrm>
            <a:off x="7982712" y="3479292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8019288" y="3479292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40" name="Shape 138"/>
          <p:cNvSpPr/>
          <p:nvPr/>
        </p:nvSpPr>
        <p:spPr>
          <a:xfrm>
            <a:off x="201168" y="3767328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237744" y="3767328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Charitable Donation Provision</a:t>
            </a:r>
            <a:endParaRPr lang="en-US" sz="850" dirty="0"/>
          </a:p>
        </p:txBody>
      </p:sp>
      <p:sp>
        <p:nvSpPr>
          <p:cNvPr id="142" name="Shape 140"/>
          <p:cNvSpPr/>
          <p:nvPr/>
        </p:nvSpPr>
        <p:spPr>
          <a:xfrm>
            <a:off x="1892808" y="3767328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929384" y="3767328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SSB/AAOIFI</a:t>
            </a:r>
            <a:endParaRPr lang="en-US" sz="850" dirty="0"/>
          </a:p>
        </p:txBody>
      </p:sp>
      <p:sp>
        <p:nvSpPr>
          <p:cNvPr id="144" name="Shape 142"/>
          <p:cNvSpPr/>
          <p:nvPr/>
        </p:nvSpPr>
        <p:spPr>
          <a:xfrm>
            <a:off x="2642616" y="3767328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2679192" y="3767328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 from late fees; route to charity pool with audit trail</a:t>
            </a:r>
            <a:endParaRPr lang="en-US" sz="780" dirty="0"/>
          </a:p>
        </p:txBody>
      </p:sp>
      <p:sp>
        <p:nvSpPr>
          <p:cNvPr id="146" name="Shape 144"/>
          <p:cNvSpPr/>
          <p:nvPr/>
        </p:nvSpPr>
        <p:spPr>
          <a:xfrm>
            <a:off x="4654296" y="3767328"/>
            <a:ext cx="1024128" cy="288036"/>
          </a:xfrm>
          <a:prstGeom prst="rect">
            <a:avLst/>
          </a:prstGeom>
          <a:solidFill>
            <a:srgbClr val="F0DC9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47" name="Text 145"/>
          <p:cNvSpPr/>
          <p:nvPr/>
        </p:nvSpPr>
        <p:spPr>
          <a:xfrm>
            <a:off x="4690872" y="3767328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148" name="Shape 146"/>
          <p:cNvSpPr/>
          <p:nvPr/>
        </p:nvSpPr>
        <p:spPr>
          <a:xfrm>
            <a:off x="5678424" y="3767328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49" name="Text 147"/>
          <p:cNvSpPr/>
          <p:nvPr/>
        </p:nvSpPr>
        <p:spPr>
          <a:xfrm>
            <a:off x="5715000" y="3767328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</a:t>
            </a:r>
            <a:endParaRPr lang="en-US" sz="850" dirty="0"/>
          </a:p>
        </p:txBody>
      </p:sp>
      <p:sp>
        <p:nvSpPr>
          <p:cNvPr id="150" name="Shape 148"/>
          <p:cNvSpPr/>
          <p:nvPr/>
        </p:nvSpPr>
        <p:spPr>
          <a:xfrm>
            <a:off x="7068312" y="3767328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51" name="Text 149"/>
          <p:cNvSpPr/>
          <p:nvPr/>
        </p:nvSpPr>
        <p:spPr>
          <a:xfrm>
            <a:off x="7104888" y="3767328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52" name="Shape 150"/>
          <p:cNvSpPr/>
          <p:nvPr/>
        </p:nvSpPr>
        <p:spPr>
          <a:xfrm>
            <a:off x="7982712" y="3767328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53" name="Text 151"/>
          <p:cNvSpPr/>
          <p:nvPr/>
        </p:nvSpPr>
        <p:spPr>
          <a:xfrm>
            <a:off x="8019288" y="3767328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54" name="Shape 152"/>
          <p:cNvSpPr/>
          <p:nvPr/>
        </p:nvSpPr>
        <p:spPr>
          <a:xfrm>
            <a:off x="201168" y="4055364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237744" y="4055364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Base Calculation</a:t>
            </a:r>
            <a:endParaRPr lang="en-US" sz="850" dirty="0"/>
          </a:p>
        </p:txBody>
      </p:sp>
      <p:sp>
        <p:nvSpPr>
          <p:cNvPr id="156" name="Shape 154"/>
          <p:cNvSpPr/>
          <p:nvPr/>
        </p:nvSpPr>
        <p:spPr>
          <a:xfrm>
            <a:off x="1892808" y="4055364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1929384" y="4055364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SSB/AAOIFI</a:t>
            </a:r>
            <a:endParaRPr lang="en-US" sz="850" dirty="0"/>
          </a:p>
        </p:txBody>
      </p:sp>
      <p:sp>
        <p:nvSpPr>
          <p:cNvPr id="158" name="Shape 156"/>
          <p:cNvSpPr/>
          <p:nvPr/>
        </p:nvSpPr>
        <p:spPr>
          <a:xfrm>
            <a:off x="2642616" y="4055364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59" name="Text 157"/>
          <p:cNvSpPr/>
          <p:nvPr/>
        </p:nvSpPr>
        <p:spPr>
          <a:xfrm>
            <a:off x="2679192" y="4055364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 per AAOIFI method; generate SSB memo in Arabic</a:t>
            </a:r>
            <a:endParaRPr lang="en-US" sz="780" dirty="0"/>
          </a:p>
        </p:txBody>
      </p:sp>
      <p:sp>
        <p:nvSpPr>
          <p:cNvPr id="160" name="Shape 158"/>
          <p:cNvSpPr/>
          <p:nvPr/>
        </p:nvSpPr>
        <p:spPr>
          <a:xfrm>
            <a:off x="4654296" y="4055364"/>
            <a:ext cx="1024128" cy="288036"/>
          </a:xfrm>
          <a:prstGeom prst="rect">
            <a:avLst/>
          </a:prstGeom>
          <a:solidFill>
            <a:srgbClr val="F0DC9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61" name="Text 159"/>
          <p:cNvSpPr/>
          <p:nvPr/>
        </p:nvSpPr>
        <p:spPr>
          <a:xfrm>
            <a:off x="4690872" y="4055364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</a:t>
            </a:r>
            <a:endParaRPr lang="en-US" sz="850" dirty="0"/>
          </a:p>
        </p:txBody>
      </p:sp>
      <p:sp>
        <p:nvSpPr>
          <p:cNvPr id="162" name="Shape 160"/>
          <p:cNvSpPr/>
          <p:nvPr/>
        </p:nvSpPr>
        <p:spPr>
          <a:xfrm>
            <a:off x="5678424" y="4055364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63" name="Text 161"/>
          <p:cNvSpPr/>
          <p:nvPr/>
        </p:nvSpPr>
        <p:spPr>
          <a:xfrm>
            <a:off x="5715000" y="4055364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</a:t>
            </a:r>
            <a:endParaRPr lang="en-US" sz="850" dirty="0"/>
          </a:p>
        </p:txBody>
      </p:sp>
      <p:sp>
        <p:nvSpPr>
          <p:cNvPr id="164" name="Shape 162"/>
          <p:cNvSpPr/>
          <p:nvPr/>
        </p:nvSpPr>
        <p:spPr>
          <a:xfrm>
            <a:off x="7068312" y="4055364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65" name="Text 163"/>
          <p:cNvSpPr/>
          <p:nvPr/>
        </p:nvSpPr>
        <p:spPr>
          <a:xfrm>
            <a:off x="7104888" y="4055364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</a:t>
            </a:r>
            <a:endParaRPr lang="en-US" sz="850" dirty="0"/>
          </a:p>
        </p:txBody>
      </p:sp>
      <p:sp>
        <p:nvSpPr>
          <p:cNvPr id="166" name="Shape 164"/>
          <p:cNvSpPr/>
          <p:nvPr/>
        </p:nvSpPr>
        <p:spPr>
          <a:xfrm>
            <a:off x="7982712" y="4055364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67" name="Text 165"/>
          <p:cNvSpPr/>
          <p:nvPr/>
        </p:nvSpPr>
        <p:spPr>
          <a:xfrm>
            <a:off x="8019288" y="4055364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68" name="Shape 166"/>
          <p:cNvSpPr/>
          <p:nvPr/>
        </p:nvSpPr>
        <p:spPr>
          <a:xfrm>
            <a:off x="201168" y="4343400"/>
            <a:ext cx="169164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69" name="Text 167"/>
          <p:cNvSpPr/>
          <p:nvPr/>
        </p:nvSpPr>
        <p:spPr>
          <a:xfrm>
            <a:off x="237744" y="4343400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Loss Events</a:t>
            </a:r>
            <a:endParaRPr lang="en-US" sz="850" dirty="0"/>
          </a:p>
        </p:txBody>
      </p:sp>
      <p:sp>
        <p:nvSpPr>
          <p:cNvPr id="170" name="Shape 168"/>
          <p:cNvSpPr/>
          <p:nvPr/>
        </p:nvSpPr>
        <p:spPr>
          <a:xfrm>
            <a:off x="1892808" y="4343400"/>
            <a:ext cx="74980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71" name="Text 169"/>
          <p:cNvSpPr/>
          <p:nvPr/>
        </p:nvSpPr>
        <p:spPr>
          <a:xfrm>
            <a:off x="1929384" y="4343400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CBUAE</a:t>
            </a:r>
            <a:endParaRPr lang="en-US" sz="850" dirty="0"/>
          </a:p>
        </p:txBody>
      </p:sp>
      <p:sp>
        <p:nvSpPr>
          <p:cNvPr id="172" name="Shape 170"/>
          <p:cNvSpPr/>
          <p:nvPr/>
        </p:nvSpPr>
        <p:spPr>
          <a:xfrm>
            <a:off x="2642616" y="4343400"/>
            <a:ext cx="201168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73" name="Text 171"/>
          <p:cNvSpPr/>
          <p:nvPr/>
        </p:nvSpPr>
        <p:spPr>
          <a:xfrm>
            <a:off x="2679192" y="4343400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Auto-extract from GRC system; NLP categorise by Basel event type</a:t>
            </a:r>
            <a:endParaRPr lang="en-US" sz="780" dirty="0"/>
          </a:p>
        </p:txBody>
      </p:sp>
      <p:sp>
        <p:nvSpPr>
          <p:cNvPr id="174" name="Shape 172"/>
          <p:cNvSpPr/>
          <p:nvPr/>
        </p:nvSpPr>
        <p:spPr>
          <a:xfrm>
            <a:off x="4654296" y="4343400"/>
            <a:ext cx="1024128" cy="288036"/>
          </a:xfrm>
          <a:prstGeom prst="rect">
            <a:avLst/>
          </a:prstGeom>
          <a:solidFill>
            <a:srgbClr val="FFE0B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75" name="Text 173"/>
          <p:cNvSpPr/>
          <p:nvPr/>
        </p:nvSpPr>
        <p:spPr>
          <a:xfrm>
            <a:off x="4690872" y="4343400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4A1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850" dirty="0"/>
          </a:p>
        </p:txBody>
      </p:sp>
      <p:sp>
        <p:nvSpPr>
          <p:cNvPr id="176" name="Shape 174"/>
          <p:cNvSpPr/>
          <p:nvPr/>
        </p:nvSpPr>
        <p:spPr>
          <a:xfrm>
            <a:off x="5678424" y="4343400"/>
            <a:ext cx="1389888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77" name="Text 175"/>
          <p:cNvSpPr/>
          <p:nvPr/>
        </p:nvSpPr>
        <p:spPr>
          <a:xfrm>
            <a:off x="5715000" y="4343400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Office</a:t>
            </a:r>
            <a:endParaRPr lang="en-US" sz="850" dirty="0"/>
          </a:p>
        </p:txBody>
      </p:sp>
      <p:sp>
        <p:nvSpPr>
          <p:cNvPr id="178" name="Shape 176"/>
          <p:cNvSpPr/>
          <p:nvPr/>
        </p:nvSpPr>
        <p:spPr>
          <a:xfrm>
            <a:off x="7068312" y="4343400"/>
            <a:ext cx="914400" cy="288036"/>
          </a:xfrm>
          <a:prstGeom prst="rect">
            <a:avLst/>
          </a:prstGeom>
          <a:solidFill>
            <a:srgbClr val="1A2F45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104888" y="4343400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</a:t>
            </a:r>
            <a:endParaRPr lang="en-US" sz="850" dirty="0"/>
          </a:p>
        </p:txBody>
      </p:sp>
      <p:sp>
        <p:nvSpPr>
          <p:cNvPr id="180" name="Shape 178"/>
          <p:cNvSpPr/>
          <p:nvPr/>
        </p:nvSpPr>
        <p:spPr>
          <a:xfrm>
            <a:off x="7982712" y="4343400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8019288" y="4343400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82" name="Shape 180"/>
          <p:cNvSpPr/>
          <p:nvPr/>
        </p:nvSpPr>
        <p:spPr>
          <a:xfrm>
            <a:off x="201168" y="4631436"/>
            <a:ext cx="169164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83" name="Text 181"/>
          <p:cNvSpPr/>
          <p:nvPr/>
        </p:nvSpPr>
        <p:spPr>
          <a:xfrm>
            <a:off x="237744" y="4631436"/>
            <a:ext cx="16184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Stable Funding</a:t>
            </a:r>
            <a:endParaRPr lang="en-US" sz="850" dirty="0"/>
          </a:p>
        </p:txBody>
      </p:sp>
      <p:sp>
        <p:nvSpPr>
          <p:cNvPr id="184" name="Shape 182"/>
          <p:cNvSpPr/>
          <p:nvPr/>
        </p:nvSpPr>
        <p:spPr>
          <a:xfrm>
            <a:off x="1892808" y="4631436"/>
            <a:ext cx="74980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85" name="Text 183"/>
          <p:cNvSpPr/>
          <p:nvPr/>
        </p:nvSpPr>
        <p:spPr>
          <a:xfrm>
            <a:off x="1929384" y="4631436"/>
            <a:ext cx="67665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SAMA</a:t>
            </a:r>
            <a:endParaRPr lang="en-US" sz="850" dirty="0"/>
          </a:p>
        </p:txBody>
      </p:sp>
      <p:sp>
        <p:nvSpPr>
          <p:cNvPr id="186" name="Shape 184"/>
          <p:cNvSpPr/>
          <p:nvPr/>
        </p:nvSpPr>
        <p:spPr>
          <a:xfrm>
            <a:off x="2642616" y="4631436"/>
            <a:ext cx="201168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87" name="Text 185"/>
          <p:cNvSpPr/>
          <p:nvPr/>
        </p:nvSpPr>
        <p:spPr>
          <a:xfrm>
            <a:off x="2679192" y="4631436"/>
            <a:ext cx="19385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80" dirty="0">
                <a:solidFill>
                  <a:srgbClr val="B2DF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liabilities to ASF factors; auto-calculate weighted total</a:t>
            </a:r>
            <a:endParaRPr lang="en-US" sz="780" dirty="0"/>
          </a:p>
        </p:txBody>
      </p:sp>
      <p:sp>
        <p:nvSpPr>
          <p:cNvPr id="188" name="Shape 186"/>
          <p:cNvSpPr/>
          <p:nvPr/>
        </p:nvSpPr>
        <p:spPr>
          <a:xfrm>
            <a:off x="4654296" y="4631436"/>
            <a:ext cx="1024128" cy="288036"/>
          </a:xfrm>
          <a:prstGeom prst="rect">
            <a:avLst/>
          </a:prstGeom>
          <a:solidFill>
            <a:srgbClr val="B2DFDB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89" name="Text 187"/>
          <p:cNvSpPr/>
          <p:nvPr/>
        </p:nvSpPr>
        <p:spPr>
          <a:xfrm>
            <a:off x="4690872" y="4631436"/>
            <a:ext cx="95097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004D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Treasury</a:t>
            </a:r>
            <a:endParaRPr lang="en-US" sz="850" dirty="0"/>
          </a:p>
        </p:txBody>
      </p:sp>
      <p:sp>
        <p:nvSpPr>
          <p:cNvPr id="190" name="Shape 188"/>
          <p:cNvSpPr/>
          <p:nvPr/>
        </p:nvSpPr>
        <p:spPr>
          <a:xfrm>
            <a:off x="5678424" y="4631436"/>
            <a:ext cx="1389888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91" name="Text 189"/>
          <p:cNvSpPr/>
          <p:nvPr/>
        </p:nvSpPr>
        <p:spPr>
          <a:xfrm>
            <a:off x="5715000" y="4631436"/>
            <a:ext cx="1316736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Treasury</a:t>
            </a:r>
            <a:endParaRPr lang="en-US" sz="850" dirty="0"/>
          </a:p>
        </p:txBody>
      </p:sp>
      <p:sp>
        <p:nvSpPr>
          <p:cNvPr id="192" name="Shape 190"/>
          <p:cNvSpPr/>
          <p:nvPr/>
        </p:nvSpPr>
        <p:spPr>
          <a:xfrm>
            <a:off x="7068312" y="4631436"/>
            <a:ext cx="914400" cy="288036"/>
          </a:xfrm>
          <a:prstGeom prst="rect">
            <a:avLst/>
          </a:prstGeom>
          <a:solidFill>
            <a:srgbClr val="0D1B2A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93" name="Text 191"/>
          <p:cNvSpPr/>
          <p:nvPr/>
        </p:nvSpPr>
        <p:spPr>
          <a:xfrm>
            <a:off x="7104888" y="4631436"/>
            <a:ext cx="841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</a:t>
            </a:r>
            <a:endParaRPr lang="en-US" sz="850" dirty="0"/>
          </a:p>
        </p:txBody>
      </p:sp>
      <p:sp>
        <p:nvSpPr>
          <p:cNvPr id="194" name="Shape 192"/>
          <p:cNvSpPr/>
          <p:nvPr/>
        </p:nvSpPr>
        <p:spPr>
          <a:xfrm>
            <a:off x="7982712" y="4631436"/>
            <a:ext cx="1097280" cy="288036"/>
          </a:xfrm>
          <a:prstGeom prst="rect">
            <a:avLst/>
          </a:prstGeom>
          <a:solidFill>
            <a:srgbClr val="FFCDD2"/>
          </a:solidFill>
          <a:ln w="3810">
            <a:solidFill>
              <a:srgbClr val="243B55"/>
            </a:solidFill>
            <a:prstDash val="solid"/>
          </a:ln>
        </p:spPr>
      </p:sp>
      <p:sp>
        <p:nvSpPr>
          <p:cNvPr id="195" name="Text 193"/>
          <p:cNvSpPr/>
          <p:nvPr/>
        </p:nvSpPr>
        <p:spPr>
          <a:xfrm>
            <a:off x="8019288" y="4631436"/>
            <a:ext cx="102412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55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850" dirty="0"/>
          </a:p>
        </p:txBody>
      </p:sp>
      <p:sp>
        <p:nvSpPr>
          <p:cNvPr id="196" name="Text 194"/>
          <p:cNvSpPr/>
          <p:nvPr/>
        </p:nvSpPr>
        <p:spPr>
          <a:xfrm>
            <a:off x="201168" y="4892040"/>
            <a:ext cx="87416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Full matrix delivered as an Excel workbook with 5 worksheets: Master Matrix · Report Decomposition · Domain Certification Tracker · Regulatory Change Log · Instructions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Governance Model: Domain Stewards, Not Report Owners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team certifies their data domain once — that certified data feeds every report that needs it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01168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01168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48" y="1261872"/>
            <a:ext cx="347472" cy="34747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84048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384048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Office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84048" y="2377440"/>
            <a:ext cx="1645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84048" y="246888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and balance sheet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AAOIFI accounting entries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 and provision data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base components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Zakat and charitable provisions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32304" y="1115568"/>
            <a:ext cx="201168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432304" y="1115568"/>
            <a:ext cx="2011680" cy="54864"/>
          </a:xfrm>
          <a:prstGeom prst="rect">
            <a:avLst/>
          </a:prstGeom>
          <a:solidFill>
            <a:srgbClr val="DC4A3D"/>
          </a:solidFill>
          <a:ln w="12700">
            <a:solidFill>
              <a:srgbClr val="DC4A3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0320" y="1261872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56032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Risk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2560320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DC4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 Office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2560320" y="2377440"/>
            <a:ext cx="1645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560320" y="246888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RWA and credit exposures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risk classifications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and operational risk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exposure monitoring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parties data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4608576" y="1115568"/>
            <a:ext cx="201168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08576" y="1115568"/>
            <a:ext cx="201168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592" y="1261872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736592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Treasury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4736592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 of Treasury</a:t>
            </a:r>
            <a:endParaRPr lang="en-US" sz="950" dirty="0"/>
          </a:p>
        </p:txBody>
      </p:sp>
      <p:sp>
        <p:nvSpPr>
          <p:cNvPr id="24" name="Shape 19"/>
          <p:cNvSpPr/>
          <p:nvPr/>
        </p:nvSpPr>
        <p:spPr>
          <a:xfrm>
            <a:off x="4736592" y="2377440"/>
            <a:ext cx="1645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4736592" y="246888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HQLA and liquidity metrics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LCR and NSFR positions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FX exposure and hedges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 stable funding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Interbank placements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6784848" y="1115568"/>
            <a:ext cx="201168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784848" y="1115568"/>
            <a:ext cx="2011680" cy="54864"/>
          </a:xfrm>
          <a:prstGeom prst="rect">
            <a:avLst/>
          </a:prstGeom>
          <a:solidFill>
            <a:srgbClr val="FFE0B2"/>
          </a:solidFill>
          <a:ln w="12700">
            <a:solidFill>
              <a:srgbClr val="FFE0B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4" y="1261872"/>
            <a:ext cx="347472" cy="347472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12864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12864" y="207568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FFE0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 Office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6912864" y="2377440"/>
            <a:ext cx="1645920" cy="27432"/>
          </a:xfrm>
          <a:prstGeom prst="rect">
            <a:avLst/>
          </a:prstGeom>
          <a:solidFill>
            <a:srgbClr val="243B55"/>
          </a:solidFill>
          <a:ln w="12700">
            <a:solidFill>
              <a:srgbClr val="243B5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6912864" y="2468880"/>
            <a:ext cx="1828800" cy="2331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and structure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loss events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GRC incident data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Third-party exposures</a:t>
            </a:r>
            <a:endParaRPr lang="en-US" sz="950" dirty="0"/>
          </a:p>
          <a:p>
            <a:pPr algn="l" marL="342900" indent="-342900">
              <a:spcAft>
                <a:spcPts val="7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availability metrics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Earns Its Place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operates on certified data — not raw source data. This is what makes automation safe enough for regulatory submissions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43000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43000"/>
            <a:ext cx="54864" cy="1773936"/>
          </a:xfrm>
          <a:prstGeom prst="rect">
            <a:avLst/>
          </a:prstGeom>
          <a:solidFill>
            <a:srgbClr val="DC4A3D"/>
          </a:solidFill>
          <a:ln w="12700">
            <a:solidFill>
              <a:srgbClr val="DC4A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32588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02336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Anomaly Detection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02336" y="209397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flags data deviating from expected ranges before it reaches any report — catching errors before they become regulatory misstatements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3200400" y="1143000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200400" y="1143000"/>
            <a:ext cx="54864" cy="177393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704" y="132588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346704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Narrative Generation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346704" y="209397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auto-drafts qualitative commentary alongside quantitative returns, in Arabic and English, in the regulator's preferred format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6144768" y="1143000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144768" y="1143000"/>
            <a:ext cx="54864" cy="177393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3258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291072" y="17190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Change Monitor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291072" y="2093976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Continuously scans SAMA, CBUAE, and AAOIFI circulars for standard changes; maps impact to affected reports and data elements instantly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256032" y="3081528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56032" y="3081528"/>
            <a:ext cx="54864" cy="1773936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3264408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02336" y="36576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Submission Readiness Score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02336" y="4032504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dashboard showing which domains are certified, which are pending, and whether the bank is on track to submit on time — no more fire drills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3200400" y="3081528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200400" y="3081528"/>
            <a:ext cx="54864" cy="1773936"/>
          </a:xfrm>
          <a:prstGeom prst="rect">
            <a:avLst/>
          </a:prstGeom>
          <a:solidFill>
            <a:srgbClr val="2E7D52"/>
          </a:solidFill>
          <a:ln w="12700">
            <a:solidFill>
              <a:srgbClr val="2E7D52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6704" y="3264408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3346704" y="36576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Lineage &amp; Explainability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346704" y="4032504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number in any report traced back through the data fabric to its source transaction — full transparency for auditors and regulators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6144768" y="3081528"/>
            <a:ext cx="2743200" cy="1773936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144768" y="3081528"/>
            <a:ext cx="54864" cy="1773936"/>
          </a:xfrm>
          <a:prstGeom prst="rect">
            <a:avLst/>
          </a:prstGeom>
          <a:solidFill>
            <a:srgbClr val="8BA0B4"/>
          </a:solidFill>
          <a:ln w="12700">
            <a:solidFill>
              <a:srgbClr val="8BA0B4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3264408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291072" y="365760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Exception-Only Review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291072" y="4032504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 shifts from checking every number to reviewing AI-flagged exceptions only — estimated 70–80% reduction in senior sign-off time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Trust-First Rollout: Prove It, Then Scale 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731520"/>
            <a:ext cx="8595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8BA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report, win stakeholder trust, expand the data fabric — not the other way around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256032" y="1115568"/>
            <a:ext cx="274320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56032" y="1115568"/>
            <a:ext cx="27432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113385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0  ·  Weeks 1–6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179222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Report, Full Proof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93192" y="2249424"/>
            <a:ext cx="2487168" cy="457200"/>
          </a:xfrm>
          <a:prstGeom prst="rect">
            <a:avLst/>
          </a:prstGeom>
          <a:solidFill>
            <a:srgbClr val="243B55"/>
          </a:solidFill>
          <a:ln w="9525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8912" y="22677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Capital Adequacy Return (CAR) automated end-to-end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93192" y="2779776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Data Ownership Matrix workshop — Finance + Risk domains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domain certification workflow for both teams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CAR assembly on certified data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run: AI output vs manual — reconcile to zero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to CFO and CRO: trust is built here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115568"/>
            <a:ext cx="274320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0" y="1115568"/>
            <a:ext cx="2743200" cy="5669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37560" y="113385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1  ·  Weeks 7–16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337560" y="179222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 the Data Fabric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337560" y="2249424"/>
            <a:ext cx="2487168" cy="457200"/>
          </a:xfrm>
          <a:prstGeom prst="rect">
            <a:avLst/>
          </a:prstGeom>
          <a:solidFill>
            <a:srgbClr val="243B55"/>
          </a:solidFill>
          <a:ln w="9525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2677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Treasury and Operations onboarded; LCR + large exposures added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337560" y="2779776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Treasury as third certified domain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Operations domain (headcount, op losses)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LCR and large exposure reports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ML anomaly detection across all domains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 up Regulatory Data Council governance body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44768" y="1115568"/>
            <a:ext cx="2743200" cy="3840480"/>
          </a:xfrm>
          <a:prstGeom prst="rect">
            <a:avLst/>
          </a:prstGeom>
          <a:solidFill>
            <a:srgbClr val="1A2F45"/>
          </a:solidFill>
          <a:ln w="9525">
            <a:solidFill>
              <a:srgbClr val="243B55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144768" y="1115568"/>
            <a:ext cx="2743200" cy="566928"/>
          </a:xfrm>
          <a:prstGeom prst="rect">
            <a:avLst/>
          </a:prstGeom>
          <a:solidFill>
            <a:srgbClr val="E8C96D"/>
          </a:solidFill>
          <a:ln w="12700">
            <a:solidFill>
              <a:srgbClr val="E8C96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1133856"/>
            <a:ext cx="24871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Phase 2  ·  Weeks 17–24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281928" y="1792224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Automation + Exception Review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81928" y="2249424"/>
            <a:ext cx="2487168" cy="457200"/>
          </a:xfrm>
          <a:prstGeom prst="rect">
            <a:avLst/>
          </a:prstGeom>
          <a:solidFill>
            <a:srgbClr val="243B55"/>
          </a:solidFill>
          <a:ln w="9525">
            <a:solidFill>
              <a:srgbClr val="E8C96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27648" y="226771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E8C9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reports on the fabric; human review = exceptions only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281928" y="2779776"/>
            <a:ext cx="2487168" cy="20299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reports migrated onto the data fabric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narrative generation live in Arabic and English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change monitoring feed activated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readiness dashboard deployed</a:t>
            </a:r>
            <a:endParaRPr lang="en-US" sz="95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70–80% reduction in manual reporting effort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0" y="0"/>
            <a:ext cx="3474720" cy="5143500"/>
          </a:xfrm>
          <a:prstGeom prst="rect">
            <a:avLst/>
          </a:prstGeom>
          <a:solidFill>
            <a:srgbClr val="1A2F45"/>
          </a:solidFill>
          <a:ln w="12700">
            <a:solidFill>
              <a:srgbClr val="1A2F4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457200" y="3474720"/>
            <a:ext cx="2560320" cy="2560320"/>
          </a:xfrm>
          <a:prstGeom prst="ellipse">
            <a:avLst/>
          </a:prstGeom>
          <a:solidFill>
            <a:srgbClr val="C9A84C">
              <a:alpha val="12000"/>
            </a:srgbClr>
          </a:solidFill>
          <a:ln w="12700">
            <a:solidFill>
              <a:srgbClr val="C9A84C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5486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MESSAGE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YOUR CFO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457200" y="2057400"/>
            <a:ext cx="1005840" cy="36576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1945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"We're not asking you to trust AI with your regulatory submissions.
</a:t>
            </a:r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We're asking each of your data owners to do what they already do — validate their numbers — but once, centrally, with a system that feeds every report automatically.
</a:t>
            </a:r>
            <a:pPr algn="l" indent="0" marL="0">
              <a:lnSpc>
                <a:spcPct val="140000"/>
              </a:lnSpc>
              <a:buNone/>
            </a:pPr>
            <a:r>
              <a:rPr lang="en-US" sz="1200" i="1" dirty="0">
                <a:solidFill>
                  <a:srgbClr val="E8ED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handles assembly, anomaly detection, and narrative. Your people handle certification and exceptions."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97880" y="411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897880" y="96012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97880" y="960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0" y="9601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2-day Data Ownership Matrix workshop with Finance, Risk, Treasury, and Operations leads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233172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23317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Matrix and Data Council charter delivered within 5 business days — the governance contract for the programme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897880" y="3703320"/>
            <a:ext cx="384048" cy="384048"/>
          </a:xfrm>
          <a:prstGeom prst="ellipse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97880" y="3703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0" y="3703320"/>
            <a:ext cx="2514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 scoped: CAR automation on a fixed-fee basis with full parallel run within 6 weeks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Regulatory Reporting Automation</dc:title>
  <dc:subject>PptxGenJS Presentation</dc:subject>
  <dc:creator>PptxGenJS</dc:creator>
  <cp:lastModifiedBy>PptxGenJS</cp:lastModifiedBy>
  <cp:revision>1</cp:revision>
  <dcterms:created xsi:type="dcterms:W3CDTF">2026-06-04T22:20:11Z</dcterms:created>
  <dcterms:modified xsi:type="dcterms:W3CDTF">2026-06-04T22:20:11Z</dcterms:modified>
</cp:coreProperties>
</file>